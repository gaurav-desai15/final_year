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16202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3987E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658368" cy="658368"/>
          </a:xfrm>
          <a:prstGeom prst="ellipse">
            <a:avLst/>
          </a:prstGeom>
          <a:solidFill>
            <a:srgbClr val="16202C"/>
          </a:solidFill>
          <a:ln/>
        </p:spPr>
      </p:sp>
      <p:pic>
        <p:nvPicPr>
          <p:cNvPr id="5" name="Image 0" descr="/home/user/final_year/pitch_deck/icons/shield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113129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cpgvd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vulnerability detection, powered by Code Property Graphs and LLM reasoning.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sink pattern isn't a finding. A vulnerability is a sink reached by attacker-controlled input, with no check in between — and that's a claim only the call graph can prove.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Thakur College of Engineering and Technology, Mumbai  •  Dept. of Computer Engineering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Rashi Bedse  ·  Gaurav Desai  ·  Kruti Dagade      Advisor: Dr. Harshali Patil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teams don't have a detection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problem. They have a trust problem.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040880" cy="1234440"/>
          </a:xfrm>
          <a:prstGeom prst="roundRect">
            <a:avLst>
              <a:gd name="adj" fmla="val 740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65476"/>
            <a:ext cx="566928" cy="566928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6" name="Image 0" descr="/home/user/final_year/pitch_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8128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4780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SAST is noisy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8437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scanners flag every dangerous-looking call, regardless of whether attacker input can ever reach it — teams learn to ignore the tool.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22192"/>
            <a:ext cx="7040880" cy="1234440"/>
          </a:xfrm>
          <a:prstGeom prst="roundRect">
            <a:avLst>
              <a:gd name="adj" fmla="val 740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4155948"/>
            <a:ext cx="566928" cy="566928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1" name="Image 1" descr="/home/user/final_year/pitch_deck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43033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9684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Pure-LLM scanners don't scale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91640" y="433425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reasoning without a bounded, verified context window hallucinates on large codebases and can't be trusted at repository scale.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5312664"/>
            <a:ext cx="7040880" cy="1234440"/>
          </a:xfrm>
          <a:prstGeom prst="roundRect">
            <a:avLst>
              <a:gd name="adj" fmla="val 740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646420"/>
            <a:ext cx="566928" cy="566928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6" name="Image 2" descr="/home/user/final_year/pitch_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7938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5458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proves the call graph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58247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input attacker-controlled given who calls this function?" is exactly the question static rules and free-form LLMs both fail to answer.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955280" y="233172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183880" y="2496312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95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60–80%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183880" y="3310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LEGACY SAST TOOLS THAT SECURITY TEAMS REPORT AS NOISE, PER INDUSTRY SURVEYS CITED IN SAST TOOLING LITERATURE [DALAQ ET AL., 2025]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955280" y="406908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183880" y="4233672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5C5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183880" y="50474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PATTERN ≠ 1 FINDING — EXPLOITABILITY DEPENDS ENTIRELY ON WHO CALLS IT AND WITH WHAT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product.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 builds a Code Property Graph of the repository, then hands the LLM exactly the evidence it needs to judge exploitability — not the whole codebase, not a bare sink match.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6202C"/>
          </a:solidFill>
          <a:ln w="12700">
            <a:solidFill>
              <a:srgbClr val="D9592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/status/&lt;name&gt;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checked against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ALLOWED_DIAGNOSTICS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reaching os.popen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88036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pattern-only scanner flags this too.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2" name="Image 0" descr="/home/user/final_year/pitch_deck/icons/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5434279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5367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cpgvd: not reported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51960" y="26060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6202C"/>
          </a:solidFill>
          <a:ln w="12700">
            <a:solidFill>
              <a:srgbClr val="D9592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262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5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2628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/admin/run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262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query param flows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into the same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os.popen call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26280" y="4526280"/>
            <a:ext cx="288036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function. Opposite verdict.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53035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1" name="Image 1" descr="/home/user/final_year/pitch_deck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5434279"/>
            <a:ext cx="241402" cy="24140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66360" y="5367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cpgvd: CWE-78, critical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001000" y="26060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75320" y="2926080"/>
            <a:ext cx="548640" cy="548640"/>
          </a:xfrm>
          <a:prstGeom prst="ellipse">
            <a:avLst/>
          </a:prstGeom>
          <a:solidFill>
            <a:srgbClr val="16202C"/>
          </a:solidFill>
          <a:ln/>
        </p:spPr>
      </p:sp>
      <p:pic>
        <p:nvPicPr>
          <p:cNvPr id="25" name="Image 2" descr="/home/user/final_year/pitch_deck/icons/targe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3068726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753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275320" y="40233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context-blind scanner scores ~50% precision on this pair, by construction. Ours has to actually reason about the caller to tell them apart.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stages.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99032" y="2834640"/>
            <a:ext cx="603504" cy="603504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7" name="Image 0" descr="/home/user/final_year/pitch_deck/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943" y="299155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CPG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425196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Joern parses the repo into one Code Property Graph — AST, control flow, and data dependence in a single structure.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66060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8036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4495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639312" y="2834640"/>
            <a:ext cx="603504" cy="603504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4" name="Image 1" descr="/home/user/final_year/pitch_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223" y="299155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4495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candidates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44952" y="425196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Sink/source regex rules flag call sites worth investigating — command injection, SQLi, path traversal, SSRF, and more.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06340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2064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28523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79592" y="2834640"/>
            <a:ext cx="603504" cy="603504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1" name="Image 2" descr="/home/user/final_year/pitch_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503" y="2991551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8523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context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85232" y="425196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1-hop callers/callees, file imports, and Joern's reachableByFlows taint paths — bounded evidence, not the whole repo.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246620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6092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52551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8119872" y="2834640"/>
            <a:ext cx="603504" cy="603504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8" name="Image 3" descr="/home/user/final_year/pitch_dec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783" y="2991551"/>
            <a:ext cx="289682" cy="28968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2551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judgment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525512" y="425196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structured call per candidate: is this exploitable given the evidence shown? Severity, CWE, and reasoning — not a guess.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486900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601200" y="214884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765792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10360152" y="2834640"/>
            <a:ext cx="603504" cy="603504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35" name="Image 4" descr="/home/user/final_year/pitch_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7063" y="2991551"/>
            <a:ext cx="289682" cy="28968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65792" y="365760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verify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765792" y="4251960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JSON / SARIF output, plus a benchmark harness that scores findings against hand-verified ground truth.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you can actually audit.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the call-graph reasoning behind it — not just a line number, but why the context made it exploitable.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CWE, and confidence at a glance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Call-graph reasoning attached to every finding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summary from source to sink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severity, confidence, free-text search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JSON / SARIF export for CI pipelines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6080760" cy="4892040"/>
          </a:xfrm>
          <a:prstGeom prst="roundRect">
            <a:avLst>
              <a:gd name="adj" fmla="val 1869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417320"/>
            <a:ext cx="6080760" cy="292608"/>
          </a:xfrm>
          <a:prstGeom prst="roundRect">
            <a:avLst>
              <a:gd name="adj" fmla="val 12500"/>
            </a:avLst>
          </a:prstGeom>
          <a:solidFill>
            <a:srgbClr val="121A24"/>
          </a:solidFill>
          <a:ln/>
        </p:spPr>
      </p:sp>
      <p:sp>
        <p:nvSpPr>
          <p:cNvPr id="8" name="Shape 6"/>
          <p:cNvSpPr/>
          <p:nvPr/>
        </p:nvSpPr>
        <p:spPr>
          <a:xfrm>
            <a:off x="5614416" y="1508760"/>
            <a:ext cx="109728" cy="109728"/>
          </a:xfrm>
          <a:prstGeom prst="ellipse">
            <a:avLst/>
          </a:prstGeom>
          <a:solidFill>
            <a:srgbClr val="E66767"/>
          </a:solidFill>
          <a:ln/>
        </p:spPr>
      </p:sp>
      <p:sp>
        <p:nvSpPr>
          <p:cNvPr id="9" name="Shape 7"/>
          <p:cNvSpPr/>
          <p:nvPr/>
        </p:nvSpPr>
        <p:spPr>
          <a:xfrm>
            <a:off x="5797296" y="1508760"/>
            <a:ext cx="109728" cy="109728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508760"/>
            <a:ext cx="109728" cy="109728"/>
          </a:xfrm>
          <a:prstGeom prst="ellipse">
            <a:avLst/>
          </a:prstGeom>
          <a:solidFill>
            <a:srgbClr val="199E70"/>
          </a:solidFill>
          <a:ln/>
        </p:spPr>
      </p:sp>
      <p:pic>
        <p:nvPicPr>
          <p:cNvPr id="11" name="Image 0" descr="/home/user/final_year/pitch_assets/web-sc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1264" y="1764792"/>
            <a:ext cx="5971032" cy="44897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WHAT SETS US APART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ourselves. Most tools don't.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benchmark harness scores findings against hand-verified ground truth: precision, recall, and F1 — per CWE, per case, tracked across every change.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Weighted, line-tolerant matching engine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FP / FN / TN accounting, not vibes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Benchmark &amp; NIST Juliet importers built in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archived immutably — regression-proof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Two-run comparison shows exactly which vulnerabilities changed status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6080760" cy="4892040"/>
          </a:xfrm>
          <a:prstGeom prst="roundRect">
            <a:avLst>
              <a:gd name="adj" fmla="val 1869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417320"/>
            <a:ext cx="6080760" cy="292608"/>
          </a:xfrm>
          <a:prstGeom prst="roundRect">
            <a:avLst>
              <a:gd name="adj" fmla="val 12500"/>
            </a:avLst>
          </a:prstGeom>
          <a:solidFill>
            <a:srgbClr val="121A24"/>
          </a:solidFill>
          <a:ln/>
        </p:spPr>
      </p:sp>
      <p:sp>
        <p:nvSpPr>
          <p:cNvPr id="8" name="Shape 6"/>
          <p:cNvSpPr/>
          <p:nvPr/>
        </p:nvSpPr>
        <p:spPr>
          <a:xfrm>
            <a:off x="5614416" y="1508760"/>
            <a:ext cx="109728" cy="109728"/>
          </a:xfrm>
          <a:prstGeom prst="ellipse">
            <a:avLst/>
          </a:prstGeom>
          <a:solidFill>
            <a:srgbClr val="E66767"/>
          </a:solidFill>
          <a:ln/>
        </p:spPr>
      </p:sp>
      <p:sp>
        <p:nvSpPr>
          <p:cNvPr id="9" name="Shape 7"/>
          <p:cNvSpPr/>
          <p:nvPr/>
        </p:nvSpPr>
        <p:spPr>
          <a:xfrm>
            <a:off x="5797296" y="1508760"/>
            <a:ext cx="109728" cy="109728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10" name="Shape 8"/>
          <p:cNvSpPr/>
          <p:nvPr/>
        </p:nvSpPr>
        <p:spPr>
          <a:xfrm>
            <a:off x="5980176" y="1508760"/>
            <a:ext cx="109728" cy="109728"/>
          </a:xfrm>
          <a:prstGeom prst="ellipse">
            <a:avLst/>
          </a:prstGeom>
          <a:solidFill>
            <a:srgbClr val="199E70"/>
          </a:solidFill>
          <a:ln/>
        </p:spPr>
      </p:sp>
      <p:pic>
        <p:nvPicPr>
          <p:cNvPr id="11" name="Image 0" descr="/home/user/final_year/pitch_assets/web-ben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1264" y="1764792"/>
            <a:ext cx="5971032" cy="44897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curves crossed at once.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6" name="Image 0" descr="/home/user/final_year/pitch_dec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6929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finally reason about code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42976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and open code-tuned models can now trace multi-hop call graphs well enough to judge exploitability, not just pattern-match — a capability that didn't exist three years ago.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514600"/>
            <a:ext cx="685800" cy="68580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1" name="Image 1" descr="/home/user/final_year/pitch_deck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6929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474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code is outpacing review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36592" y="42976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Copilot-style tools multiply how much code ships per developer; the security-review bottleneck hasn't moved, and legacy SAST wasn't built for this volume.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2514600"/>
            <a:ext cx="685800" cy="68580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6" name="Image 2" descr="/home/user/final_year/pitch_deck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6929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474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has a real cost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13064" y="42976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stop trusting their scanner stop reading its output — the noisiest tool in the pipeline becomes the one nobody looks at.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fast-growing, and fragmented market.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3055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5C5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$12.6–14.8B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MARKET,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13055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TO 2033 (MARKETSANDMARKETS)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130552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59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$0.7–3.8B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75320" y="3429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SAST-SPECIFIC SEGMENT, 2025–26 (ANALYST ESTIMATES VARY)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2011680"/>
          </a:xfrm>
          <a:prstGeom prst="roundRect">
            <a:avLst>
              <a:gd name="adj" fmla="val 4545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range honestly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firms disagree sharply on how narrowly to define "SAST" versus the broader AppSec category — estimates for the SAST segment alone range from $0.7B to $3.8B for 2025/26 depending on scope. We cite the range rather than picking the most flattering number. The strategic point stands regardless: this is a large, actively consolidating market where AI-native entrants (this project, IRIS, LLMxCPG) are still a small fraction of spend — legacy rule-based tools (Checkmarx, Veracode, SonarQube) still dominate deployed seats.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MarketsandMarkets, Grand View Research, Business Research Insights, Coherent Market Insights (2026 forecasts)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Positioned where rules end and research begins.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3120" y="1965960"/>
            <a:ext cx="7863840" cy="4434840"/>
          </a:xfrm>
          <a:prstGeom prst="roundRect">
            <a:avLst>
              <a:gd name="adj" fmla="val 2062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4183380"/>
            <a:ext cx="786384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965960"/>
            <a:ext cx="0" cy="443484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673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CONTEXT AWARENESS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6446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CONTEXT AWARENESS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" y="40462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04120" y="40462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/ LLM-DRIVEN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4485" y="5082235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B2733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37637" y="5155387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 / SonarQube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37637" y="5447995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SAST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93592" y="4062222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B2733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66744" y="413537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/ CodeQL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66744" y="442798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query DSL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68235" y="5392674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D95926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41387" y="5465826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LLM 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41387" y="575843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whole repo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10958" y="2510028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3987E5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84110" y="258318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LLMxCPG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84110" y="287578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 '25 — CPG-guided, fine-tuned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83480" y="2464308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35C5E3"/>
          </a:solidFill>
          <a:ln/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56632" y="25374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56632" y="2830068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 context + LLM judgment, zero fine-tuning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core: free where trust is earned,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where scale is needed.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6" name="Image 0" descr="/home/user/final_year/pitch_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58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runs on your machine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backend — no API cost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CLI: analyze, dashboard, web console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sink/source rule set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evaluation framework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914400" y="5532120"/>
            <a:ext cx="297180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650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developers, OSS maintainers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16552" y="196596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1B2733"/>
          </a:solidFill>
          <a:ln w="12700">
            <a:solidFill>
              <a:srgbClr val="35C5E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2240280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14" name="Image 1" descr="/home/user/final_year/pitch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76672" y="2258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376672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5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Usage-based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90872" y="301752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scanning + CI/CD integration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comments with call-graph reasoning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Claude-backed analysis for higher precision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dashboards &amp; finding triage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tracking across every change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4690872" y="5532120"/>
            <a:ext cx="297180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90872" y="5650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shipping fast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93024" y="1965960"/>
            <a:ext cx="3520440" cy="425196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67344" y="2240280"/>
            <a:ext cx="548640" cy="548640"/>
          </a:xfrm>
          <a:prstGeom prst="ellipse">
            <a:avLst/>
          </a:prstGeom>
          <a:solidFill>
            <a:srgbClr val="121A24"/>
          </a:solidFill>
          <a:ln/>
        </p:spPr>
      </p:sp>
      <p:pic>
        <p:nvPicPr>
          <p:cNvPr id="22" name="Image 2" descr="/home/user/final_year/pitch_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382926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53144" y="2258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153144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8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467344" y="301752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VPC deployment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sink rules &amp; compliance mapping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audit logs, SLA support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judgment model on your codebase</a:t>
            </a:r>
            <a:endParaRPr lang="en-US" sz="108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CVE-grade evaluation dataset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8467344" y="5532120"/>
            <a:ext cx="2971800" cy="0"/>
          </a:xfrm>
          <a:prstGeom prst="line">
            <a:avLst/>
          </a:prstGeom>
          <a:noFill/>
          <a:ln w="12700">
            <a:solidFill>
              <a:srgbClr val="2430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67344" y="5650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industries, large orgs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Bottom-up, the way developer tools win.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50492" y="2697480"/>
            <a:ext cx="585216" cy="585216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7" name="Image 0" descr="/home/user/final_year/pitch_deck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648" y="284963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local tool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developers install and run cpgvd on their own repos — zero cost, zero approval needed.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50692" y="3520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85132" y="2697480"/>
            <a:ext cx="585216" cy="585216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4" name="Image 1" descr="/home/user/final_year/pitch_deck/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288" y="2849636"/>
            <a:ext cx="280904" cy="280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spread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catches real bugs with call-graph proof gets shared inside a team without a sales call.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85332" y="3520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9224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319772" y="2697480"/>
            <a:ext cx="585216" cy="585216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1" name="Image 2" descr="/home/user/final_year/pitch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928" y="284963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9224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 champions it; the team wants CI integration, PR comments, and shared dashboards — the paid tier.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919972" y="3520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32688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0154412" y="2697480"/>
            <a:ext cx="585216" cy="585216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8" name="Image 3" descr="/home/user/final_year/pitch_deck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6568" y="2849636"/>
            <a:ext cx="280904" cy="2809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2688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pull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32688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Security/compliance teams demand on-prem deployment, audit trails, and custom rules once it's load-bearing.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40080" y="562356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14400" y="5760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how Semgrep, Trivy, and Sentry grew — an open-source tool developers trust first, a paid platform teams adopt second.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Now, next, later.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99E7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live benchmark on the pilot dataset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OWASP Benchmark &amp; Juliet for scale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precision/recall/F1 with citations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4231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987E5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310896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dataflow (beyond 1-hop context)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Second-pass FP verifier — "does a caller validate this?"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integrations (GitHub Actions, GitLab)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21488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67344" y="242316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5C5E3"/>
          </a:solidFill>
          <a:ln/>
        </p:spPr>
      </p:sp>
      <p:sp>
        <p:nvSpPr>
          <p:cNvPr id="14" name="Text 12"/>
          <p:cNvSpPr/>
          <p:nvPr/>
        </p:nvSpPr>
        <p:spPr>
          <a:xfrm>
            <a:off x="8467344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67344" y="310896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judgment model on our own corpus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Team tier with PR-comment workflow</a:t>
            </a:r>
            <a:endParaRPr lang="en-US" sz="1200" dirty="0"/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on-prem + compliance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6202C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C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four people who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CPGs themselves.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7" name="Image 0" descr="/home/user/final_year/pitch_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6910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Rashi Bedse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08760" y="28620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331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603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2" name="Image 1" descr="/home/user/final_year/pitch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26910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Desai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297680" y="28620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2331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6520" y="25603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17" name="Image 2" descr="/home/user/final_year/pitch_dec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6910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Kruti Dagade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086600" y="28620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23317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6202C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440" y="2560320"/>
            <a:ext cx="502920" cy="502920"/>
          </a:xfrm>
          <a:prstGeom prst="ellipse">
            <a:avLst/>
          </a:prstGeom>
          <a:solidFill>
            <a:srgbClr val="1B2733"/>
          </a:solidFill>
          <a:ln/>
        </p:spPr>
      </p:sp>
      <p:pic>
        <p:nvPicPr>
          <p:cNvPr id="22" name="Image 3" descr="/home/user/final_year/pitch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6199" y="26910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0" y="2532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Harshali Patil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875520" y="28620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Thakur College of Engineering and Technology, Mumbai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4251960"/>
            <a:ext cx="10972800" cy="2148840"/>
          </a:xfrm>
          <a:prstGeom prst="roundRect">
            <a:avLst>
              <a:gd name="adj" fmla="val 4255"/>
            </a:avLst>
          </a:prstGeom>
          <a:solidFill>
            <a:srgbClr val="1B2733"/>
          </a:solidFill>
          <a:ln w="12700">
            <a:solidFill>
              <a:srgbClr val="2430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C5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14400" y="49377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access or cloud credits to run the full benchmark suite at scale (OWASP Benchmark + Juliet)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codebases from a real engineering team to validate precision/recall beyond our two example apps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on productionizing the Team/Enterprise tiers — CI integration and hosted deployment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cpgvd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2026-08-04T08:04:54Z</dcterms:created>
  <dcterms:modified xsi:type="dcterms:W3CDTF">2026-08-04T08:04:54Z</dcterms:modified>
</cp:coreProperties>
</file>